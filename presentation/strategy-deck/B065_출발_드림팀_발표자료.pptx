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88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WIDE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 PRESENTATION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SSAFY 15기 AI Challenge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재활용품 이미지 VQA 최종 전략 발표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Qwen2.5-VL 7B, QLoRA, full-data 학습, logprob 추론, 선택지 셔플 TTA로 구성한 최종 제출 전략을 공유합니다.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3017520"/>
            <a:ext cx="2926080" cy="932688"/>
          </a:xfrm>
          <a:prstGeom prst="roundRect">
            <a:avLst>
              <a:gd name="adj" fmla="val 11765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77824" y="32552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출발! 드림팀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" y="4224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대전 6반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45262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이강륜 · 윤병현 · 박동규 · 김영호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" y="5175504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94944" y="522122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Scale-up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65376" y="5175504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65376" y="522122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Full-data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45536" y="5175504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9E8D2"/>
          </a:solidFill>
          <a:ln w="12700">
            <a:solidFill>
              <a:srgbClr val="F9E8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145536" y="522122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9A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Logprob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34256" y="517550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6DDD7"/>
          </a:solidFill>
          <a:ln w="12700">
            <a:solidFill>
              <a:srgbClr val="F6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334256" y="5221224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75C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4944" y="5870448"/>
            <a:ext cx="4480560" cy="0"/>
          </a:xfrm>
          <a:prstGeom prst="line">
            <a:avLst/>
          </a:prstGeom>
          <a:noFill/>
          <a:ln w="1524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94944" y="60167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SSAFY 15기 AI Challenge Final Strategy</a:t>
            </a:r>
            <a:endParaRPr lang="en-US" sz="1000" dirty="0"/>
          </a:p>
        </p:txBody>
      </p:sp>
      <p:pic>
        <p:nvPicPr>
          <p:cNvPr id="21" name="Image 0" descr="/Users/parkdongkyu/my_project/ssafy_ai_challenge/presentation/strategy-deck/assets/cover-hero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715643"/>
            <a:ext cx="5687568" cy="355473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784848" y="5431536"/>
            <a:ext cx="3877056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022592" y="561441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작은 시각 단서를 더 잘 읽고, 선택지 편향을 더 적게 믿는 방향으로 전략을 다듬었습니다.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정의와 승부 조건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정답률 게임이기 때문에 모델 자체보다도 데이터 활용 방식과 추론 안정성이 직접 점수로 이어졌습니다.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3703320" cy="42519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2139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대회 입력 / 출력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" y="2852928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15568" y="2798064"/>
            <a:ext cx="303580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입력: 재활용품 이미지 + 한국어 4지선다 질문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78408" y="333375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15568" y="3278886"/>
            <a:ext cx="303580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출력: a / b / c / d 중 하나의 답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78408" y="381457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15568" y="3759708"/>
            <a:ext cx="303580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평가지표: Accuracy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960120" y="4279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규모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7183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00200" y="4736592"/>
            <a:ext cx="2103120" cy="164592"/>
          </a:xfrm>
          <a:prstGeom prst="roundRect">
            <a:avLst>
              <a:gd name="adj" fmla="val 44444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00200" y="4736592"/>
            <a:ext cx="2051755" cy="164592"/>
          </a:xfrm>
          <a:prstGeom prst="roundRect">
            <a:avLst>
              <a:gd name="adj" fmla="val 44444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794760" y="47091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5,073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51206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00200" y="5138928"/>
            <a:ext cx="2103120" cy="164592"/>
          </a:xfrm>
          <a:prstGeom prst="roundRect">
            <a:avLst>
              <a:gd name="adj" fmla="val 44444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600200" y="5138928"/>
            <a:ext cx="1784821" cy="164592"/>
          </a:xfrm>
          <a:prstGeom prst="roundRect">
            <a:avLst>
              <a:gd name="adj" fmla="val 44444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794760" y="51114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4,413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5229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00200" y="5541264"/>
            <a:ext cx="2103120" cy="164592"/>
          </a:xfrm>
          <a:prstGeom prst="roundRect">
            <a:avLst>
              <a:gd name="adj" fmla="val 44444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600200" y="5541264"/>
            <a:ext cx="2052160" cy="164592"/>
          </a:xfrm>
          <a:prstGeom prst="roundRect">
            <a:avLst>
              <a:gd name="adj" fmla="val 44444"/>
            </a:avLst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794760" y="5513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5,074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901952"/>
            <a:ext cx="67208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83480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 어려웠나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2596896"/>
            <a:ext cx="6080760" cy="877824"/>
          </a:xfrm>
          <a:prstGeom prst="roundRect">
            <a:avLst>
              <a:gd name="adj" fmla="val 12500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30368" y="27614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세부 시각 단서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38544" y="27523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라벨, 재질, 광택, 찌그러짐처럼 작은 단서가 정답을 가름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983480" y="3675888"/>
            <a:ext cx="6080760" cy="877824"/>
          </a:xfrm>
          <a:prstGeom prst="roundRect">
            <a:avLst>
              <a:gd name="adj" fmla="val 12500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30368" y="384048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 객관식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38544" y="38313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해석 + 보기 비교 + 문자 하나만 출력해야 함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983480" y="4754880"/>
            <a:ext cx="6080760" cy="877824"/>
          </a:xfrm>
          <a:prstGeom prst="roundRect">
            <a:avLst>
              <a:gd name="adj" fmla="val 12500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230368" y="4919472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선택지 편향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38544" y="4910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VLM이 특정 위치의 보기를 선호하면 accuracy가 바로 깎임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983480" y="576072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결론: 학습 성능 + 추론 안정화 + 데이터 확대를 동시에 잡는 전략이 필요했습니다.</a:t>
            </a:r>
            <a:endParaRPr lang="en-US" sz="113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전략 한 장 요약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성능 향상은 한 번의 묘수가 아니라 네 개의 작은 결정이 누적된 결과였습니다.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606040" cy="2724912"/>
          </a:xfrm>
          <a:prstGeom prst="roundRect">
            <a:avLst>
              <a:gd name="adj" fmla="val 4211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78408" y="2212848"/>
            <a:ext cx="2203704" cy="292608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96696" y="2267712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Model scale-up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014984" y="2798064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43000" y="272491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Qwen2.5-VL 3B → 7B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4984" y="3310128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43000" y="3236976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384px → 672px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4984" y="382219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H100 80GB로 학습 여유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30168" y="2011680"/>
            <a:ext cx="2606040" cy="2724912"/>
          </a:xfrm>
          <a:prstGeom prst="roundRect">
            <a:avLst>
              <a:gd name="adj" fmla="val 4211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31336" y="2212848"/>
            <a:ext cx="2203704" cy="292608"/>
          </a:xfrm>
          <a:prstGeom prst="roundRect">
            <a:avLst>
              <a:gd name="adj" fmla="val 25000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9624" y="2267712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Fine-tuning tuning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867912" y="2798064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95928" y="272491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LoRA r=8 → 64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67912" y="3310128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995928" y="3236976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LR 1e-4 → 1e-5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67912" y="3822192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995928" y="3749040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epoch + cosine scheduler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83096" y="2011680"/>
            <a:ext cx="2606040" cy="2724912"/>
          </a:xfrm>
          <a:prstGeom prst="roundRect">
            <a:avLst>
              <a:gd name="adj" fmla="val 4211"/>
            </a:avLst>
          </a:prstGeom>
          <a:solidFill>
            <a:srgbClr val="F9E8D2"/>
          </a:solidFill>
          <a:ln w="12700">
            <a:solidFill>
              <a:srgbClr val="F9E8D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684264" y="2212848"/>
            <a:ext cx="2203704" cy="292608"/>
          </a:xfrm>
          <a:prstGeom prst="roundRect">
            <a:avLst>
              <a:gd name="adj" fmla="val 25000"/>
            </a:avLst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02552" y="2267712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 expansion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720840" y="2798064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848856" y="272491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 + dev 전체 학습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3310128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48856" y="3236976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dev는 5인 다수결로 gold 생성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822192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48856" y="3749040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9,486개까지 학습 데이터 확대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36024" y="2011680"/>
            <a:ext cx="2057400" cy="2724912"/>
          </a:xfrm>
          <a:prstGeom prst="roundRect">
            <a:avLst>
              <a:gd name="adj" fmla="val 5333"/>
            </a:avLst>
          </a:prstGeom>
          <a:solidFill>
            <a:srgbClr val="F6DDD7"/>
          </a:solidFill>
          <a:ln w="12700">
            <a:solidFill>
              <a:srgbClr val="F6DDD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537192" y="2212848"/>
            <a:ext cx="1655064" cy="292608"/>
          </a:xfrm>
          <a:prstGeom prst="roundRect">
            <a:avLst>
              <a:gd name="adj" fmla="val 25000"/>
            </a:avLst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555480" y="2267712"/>
            <a:ext cx="1618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Inference control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9573768" y="2798064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701784" y="272491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logprob 직접 추출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73768" y="3310128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701784" y="323697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선택지 셔플 TTA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73768" y="3822192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701784" y="3749040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앙상블은 자동선택 후 기각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97280" y="5212080"/>
            <a:ext cx="10149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371600" y="5449824"/>
            <a:ext cx="964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메시지  </a:t>
            </a:r>
            <a:r>
              <a:rPr lang="en-US" sz="14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큰 모델 하나가 답이 아니라 </a:t>
            </a:r>
            <a:r>
              <a:rPr lang="en-US" sz="1400" b="1" dirty="0">
                <a:solidFill>
                  <a:srgbClr val="C75C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확대 + 안정적인 선택지 비교 + 편향 제거</a:t>
            </a:r>
            <a:r>
              <a:rPr lang="en-US" sz="140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함께 묶었을 때 public score가 올라갔습니다.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3B 베이스라인에서 7B 튜닝 전략으로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하이퍼파라미터 변화는 각각 이유가 있었고, 모두 작은 시각 단서를 더 잘 잡기 위한 방향이었습니다.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6384" y="1901952"/>
            <a:ext cx="5486400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21396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요약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2112264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450592" y="2157984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13632" y="2112264"/>
            <a:ext cx="1207008" cy="256032"/>
          </a:xfrm>
          <a:prstGeom prst="roundRect">
            <a:avLst>
              <a:gd name="adj" fmla="val 28571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913632" y="215798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Final / 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6517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0906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해상도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0906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384px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3090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672px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5295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LoRA rank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5295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529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9684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9684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1e-4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39684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5C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1e-5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44074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Epoch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44074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44074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9A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846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846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linear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cosine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RTX 5060 Ti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52852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H100 80GB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1901952"/>
            <a:ext cx="4983480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720840" y="21396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 조합이 먹혔나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250545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핵심 가설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39128" y="2871216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76288" y="2816352"/>
            <a:ext cx="417880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재활용 분류는 작은 시각 단서에 민감하므로 해상도와 모델 크기가 직접 성능으로 이어진다.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739128" y="3352038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876288" y="3297174"/>
            <a:ext cx="417880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LoRA rank를 키운 만큼 LR를 낮춰야 과도한 업데이트 없이 안정적으로 적응한다.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739128" y="383286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876288" y="3777996"/>
            <a:ext cx="417880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epoch으로는 부족하고, cosine으로 후반부를 눌러줘야 미세한 경계가 정리된다.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720840" y="4956048"/>
            <a:ext cx="4343400" cy="1060704"/>
          </a:xfrm>
          <a:prstGeom prst="roundRect">
            <a:avLst>
              <a:gd name="adj" fmla="val 10345"/>
            </a:avLst>
          </a:prstGeom>
          <a:solidFill>
            <a:srgbClr val="F9E8D2"/>
          </a:solidFill>
          <a:ln w="12700">
            <a:solidFill>
              <a:srgbClr val="F9E8D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967728" y="523951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결과적으로 모델 capacity를 키우되, 학습은 더 조심스럽게 움직이는 방향으로 설계했습니다.</a:t>
            </a:r>
            <a:endParaRPr lang="en-US" sz="108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전략: FULL_DATA_MODE로 학습량 확대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dev를 버리지 않고 다수결 gold로 흡수하면서, 학습 데이터 부족 문제를 가장 직접적으로 해결했습니다.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4672" y="1956816"/>
            <a:ext cx="3794760" cy="4462272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2194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볼륨 변화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2999232"/>
            <a:ext cx="2697480" cy="329184"/>
          </a:xfrm>
          <a:prstGeom prst="roundRect">
            <a:avLst>
              <a:gd name="adj" fmla="val 22222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51560" y="2999232"/>
            <a:ext cx="1442580" cy="329184"/>
          </a:xfrm>
          <a:prstGeom prst="roundRect">
            <a:avLst>
              <a:gd name="adj" fmla="val 222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34015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5,073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40416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 + dev majority vote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4297680"/>
            <a:ext cx="2697480" cy="329184"/>
          </a:xfrm>
          <a:prstGeom prst="roundRect">
            <a:avLst>
              <a:gd name="adj" fmla="val 22222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51560" y="4297680"/>
            <a:ext cx="2697480" cy="329184"/>
          </a:xfrm>
          <a:prstGeom prst="roundRect">
            <a:avLst>
              <a:gd name="adj" fmla="val 22222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47000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9,486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57400" y="47000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+87% 데이터 확대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28032" y="1956816"/>
            <a:ext cx="2743200" cy="4462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84064" y="21945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dev를 어떻게 썼나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38928" y="276148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3F0E9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38928" y="283464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38928" y="323697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3F0E9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38928" y="331012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38928" y="371246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3F0E9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38928" y="37856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38928" y="41879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9EEEA"/>
          </a:solidFill>
          <a:ln w="1270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38928" y="42611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38928" y="46634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9EEEA"/>
          </a:solidFill>
          <a:ln w="1270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38928" y="473659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rot="5400000">
            <a:off x="6053328" y="3657600"/>
            <a:ext cx="384048" cy="475488"/>
          </a:xfrm>
          <a:prstGeom prst="chevron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693408" y="352044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F9E8D2"/>
          </a:solidFill>
          <a:ln w="12700">
            <a:solidFill>
              <a:srgbClr val="F9E8D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93408" y="376732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9A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54112" y="1956816"/>
            <a:ext cx="3657600" cy="44622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991856" y="21945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방식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91856" y="252374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 세팅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10144" y="2889504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147304" y="2834640"/>
            <a:ext cx="28986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 + dev 전체를 학습에 사용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010144" y="3370326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3315462"/>
            <a:ext cx="28986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검증은 100샘플만 모니터링 용도로 유지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010144" y="3851148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47304" y="3796284"/>
            <a:ext cx="28986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patience=999로 early stopping 사실상 비활성화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010144" y="4331970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147304" y="4277106"/>
            <a:ext cx="28986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epoch를 고정으로 끝까지 학습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7991856" y="5413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데이터가 부족한 상황에서는 정교한 regularization보다 usable label을 더 확보하는 쪽이 효과적이었습니다.</a:t>
            </a:r>
            <a:endParaRPr lang="en-US" sz="10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프롬프트는 짧지만 도메인 힌트는 분명하게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형식은 극단적으로 단순하게 유지하되, 재질/개수 구분에 필요한 관찰 포인트만 system prompt에 실었습니다.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41248" y="1975104"/>
            <a:ext cx="5074920" cy="444398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2128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System prompt 핵심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78992" y="2670048"/>
            <a:ext cx="4526280" cy="621792"/>
          </a:xfrm>
          <a:prstGeom prst="roundRect">
            <a:avLst>
              <a:gd name="adj" fmla="val 17647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98448" y="28529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개수 세기: 겹치거나 일부만 보여도 포함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078992" y="3474720"/>
            <a:ext cx="4526280" cy="621792"/>
          </a:xfrm>
          <a:prstGeom prst="roundRect">
            <a:avLst>
              <a:gd name="adj" fmla="val 17647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98448" y="36576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재질 판별: 플라스틱 / 유리 / 금속 / 종이 / 비닐 / 스티로폼 구분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078992" y="4279392"/>
            <a:ext cx="4526280" cy="621792"/>
          </a:xfrm>
          <a:prstGeom prst="roundRect">
            <a:avLst>
              <a:gd name="adj" fmla="val 17647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98448" y="44622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금속 vs 플라스틱: 광택, 반사, 찌그러짐 패턴으로 구분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78992" y="5084064"/>
            <a:ext cx="4526280" cy="621792"/>
          </a:xfrm>
          <a:prstGeom prst="roundRect">
            <a:avLst>
              <a:gd name="adj" fmla="val 17647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98448" y="52669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출력 형식: a, b, c, d 중 하나의 소문자 한 글자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44768" y="1975104"/>
            <a:ext cx="5148072" cy="444398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82512" y="22128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이렇게 설계했나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257860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원칙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944368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37960" y="2889504"/>
            <a:ext cx="42702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도메인 힌트는 넣되, 답안 형식은 한 글자로 강하게 제한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00800" y="3425190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37960" y="3370326"/>
            <a:ext cx="42702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객관식 보기는 user prompt에서 고정 포맷으로 전달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00800" y="3906012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37960" y="3851148"/>
            <a:ext cx="42702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금속/플라스틱처럼 자주 헷갈리는 경계 사례를 직접 언급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400800" y="4386834"/>
            <a:ext cx="73152" cy="73152"/>
          </a:xfrm>
          <a:prstGeom prst="ellipse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37960" y="4331970"/>
            <a:ext cx="427024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복잡한 chain-of-thought보다 관찰 기준을 주는 쪽이 대회 환경에 더 실용적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400800" y="5102352"/>
            <a:ext cx="4645152" cy="859536"/>
          </a:xfrm>
          <a:prstGeom prst="roundRect">
            <a:avLst>
              <a:gd name="adj" fmla="val 12766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656832" y="537667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요약: 프롬프트는 모델을 '똑똑하게' 만들기보다, 시선을 어디에 둘지 정렬하는 장치로 사용했습니다.</a:t>
            </a:r>
            <a:endParaRPr lang="en-US" sz="10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generate 대신 logprob 직접 비교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 하나를 뽑는 문제에서는 생성 문장을 후처리하는 것보다 a/b/c/d의 확률을 바로 비교하는 쪽이 훨씬 깨끗했습니다.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4672" y="1956816"/>
            <a:ext cx="5175504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2128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방식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8992" y="2560320"/>
            <a:ext cx="4617720" cy="1060704"/>
          </a:xfrm>
          <a:prstGeom prst="roundRect">
            <a:avLst>
              <a:gd name="adj" fmla="val 10345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53312" y="287121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model.generate() → 문자열 파싱 → a/b/c/d 추출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398678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352544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34440" y="4297680"/>
            <a:ext cx="445312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불필요한 토큰이 섞이면 후처리 규칙이 복잡해짐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097280" y="4833366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34440" y="4778502"/>
            <a:ext cx="445312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선택지별 확신도를 직접 비교하기 어려움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097280" y="5314188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34440" y="5259324"/>
            <a:ext cx="445312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앙상블이나 TTA에서 점수를 평균내기 까다로움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217920" y="1956816"/>
            <a:ext cx="5138928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73952" y="22128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방식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73952" y="2560320"/>
            <a:ext cx="4590288" cy="1243584"/>
          </a:xfrm>
          <a:prstGeom prst="roundRect">
            <a:avLst>
              <a:gd name="adj" fmla="val 8824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48272" y="281635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forward pass로 a / b / c / d 각 토큰의 logprob를 직접 추출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20840" y="4279392"/>
            <a:ext cx="914400" cy="932688"/>
          </a:xfrm>
          <a:prstGeom prst="roundRect">
            <a:avLst>
              <a:gd name="adj" fmla="val 12000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20840" y="44622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47731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-1.91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81544" y="4279392"/>
            <a:ext cx="914400" cy="932688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81544" y="44622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81544" y="47731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-0.73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42248" y="4279392"/>
            <a:ext cx="914400" cy="932688"/>
          </a:xfrm>
          <a:prstGeom prst="roundRect">
            <a:avLst>
              <a:gd name="adj" fmla="val 12000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842248" y="44622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42248" y="47731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-2.24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902952" y="4279392"/>
            <a:ext cx="914400" cy="932688"/>
          </a:xfrm>
          <a:prstGeom prst="roundRect">
            <a:avLst>
              <a:gd name="adj" fmla="val 12000"/>
            </a:avLst>
          </a:prstGeom>
          <a:solidFill>
            <a:srgbClr val="E9EEEA"/>
          </a:solidFill>
          <a:ln w="12700">
            <a:solidFill>
              <a:srgbClr val="E9E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902952" y="44622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02952" y="47731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-1.35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73952" y="5650992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장점: 확률 비교, 앙상블 평균, TTA 역매핑이 모두 같은 score space에서 처리됩니다.</a:t>
            </a:r>
            <a:endParaRPr lang="en-US" sz="107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TTA: 선택지 순서를 섞어 position bias 제거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그 자체보다 보기의 위치를 덜 믿게 만드는 것이 목적이었습니다.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1975104"/>
            <a:ext cx="10972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2128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permutation에서 같은 질문을 다시 묻고, logprob를 원래 위치로 역매핑한 뒤 평균합니다.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72768" y="24871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Original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2751025"/>
            <a:ext cx="2331720" cy="64271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5400000">
            <a:off x="1947672" y="3694176"/>
            <a:ext cx="566928" cy="329184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645920" y="4114800"/>
            <a:ext cx="1207008" cy="749808"/>
          </a:xfrm>
          <a:prstGeom prst="roundRect">
            <a:avLst>
              <a:gd name="adj" fmla="val 14634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645920" y="432511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logprob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315968" y="24871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Shuffle 1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2192" y="2751025"/>
            <a:ext cx="2331720" cy="64271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5400000">
            <a:off x="4690872" y="3694176"/>
            <a:ext cx="566928" cy="329184"/>
          </a:xfrm>
          <a:prstGeom prst="chevron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389120" y="4114800"/>
            <a:ext cx="1207008" cy="749808"/>
          </a:xfrm>
          <a:prstGeom prst="roundRect">
            <a:avLst>
              <a:gd name="adj" fmla="val 14634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389120" y="432511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logprob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059168" y="24871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9A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Shuffle 2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65392" y="2751025"/>
            <a:ext cx="2331720" cy="64271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 rot="5400000">
            <a:off x="7434072" y="3694176"/>
            <a:ext cx="566928" cy="329184"/>
          </a:xfrm>
          <a:prstGeom prst="chevron">
            <a:avLst/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132320" y="4114800"/>
            <a:ext cx="1207008" cy="749808"/>
          </a:xfrm>
          <a:prstGeom prst="roundRect">
            <a:avLst>
              <a:gd name="adj" fmla="val 14634"/>
            </a:avLst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132320" y="432511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logprob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802368" y="24871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5C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Shuffle 3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08592" y="2751025"/>
            <a:ext cx="2331720" cy="64271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 rot="5400000">
            <a:off x="10177272" y="3694176"/>
            <a:ext cx="566928" cy="329184"/>
          </a:xfrm>
          <a:prstGeom prst="chevron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9875520" y="4114800"/>
            <a:ext cx="1207008" cy="749808"/>
          </a:xfrm>
          <a:prstGeom prst="roundRect">
            <a:avLst>
              <a:gd name="adj" fmla="val 14634"/>
            </a:avLst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9875520" y="432511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logprob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257800" y="4919472"/>
            <a:ext cx="914400" cy="384048"/>
          </a:xfrm>
          <a:prstGeom prst="chevron">
            <a:avLst/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4187952" y="5449824"/>
            <a:ext cx="3145536" cy="658368"/>
          </a:xfrm>
          <a:prstGeom prst="roundRect">
            <a:avLst>
              <a:gd name="adj" fmla="val 16667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4187952" y="566928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역매핑 후 평균 → 최종 argmax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78992" y="56692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효과: 모델이 특정 위치의 선택지를 선호하더라도 평균 과정에서 편향이 상쇄됩니다.</a:t>
            </a:r>
            <a:endParaRPr lang="en-US" sz="1020" dirty="0"/>
          </a:p>
        </p:txBody>
      </p:sp>
      <p:sp>
        <p:nvSpPr>
          <p:cNvPr id="33" name="Text 27"/>
          <p:cNvSpPr/>
          <p:nvPr/>
        </p:nvSpPr>
        <p:spPr>
          <a:xfrm>
            <a:off x="7726680" y="566928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실전 결과: tuned Model A에서 TTA가 가장 높은 public score 0.91761을 기록했습니다.</a:t>
            </a:r>
            <a:endParaRPr lang="en-US" sz="10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실험 결과: TTA가 최종 우승 전략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성능 차이는 크지 않지만, 작은 차이를 만드는 요인이 무엇인지가 분명하게 드러났습니다.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41248" y="1938528"/>
            <a:ext cx="5715000" cy="4517136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Public score 비교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7977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7B + TTA (튜닝 전)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2816352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18688" y="2816352"/>
            <a:ext cx="1386840" cy="292608"/>
          </a:xfrm>
          <a:prstGeom prst="roundRect">
            <a:avLst>
              <a:gd name="adj" fmla="val 25000"/>
            </a:avLst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01568" y="3182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9A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0.91525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36592" y="320040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79A3B"/>
          </a:solidFill>
          <a:ln w="12700">
            <a:solidFill>
              <a:srgbClr val="E79A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36592" y="324612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38587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7B + 튜닝 + TTA (Model 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8688" y="3895344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18688" y="3895344"/>
            <a:ext cx="2393899" cy="292608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01568" y="42611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0.91761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4279392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36592" y="432511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최고점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7B + 앙상블 (A+B)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4974336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E9EEEA">
              <a:alpha val="0"/>
            </a:srgbClr>
          </a:solidFill>
          <a:ln w="12700">
            <a:solidFill>
              <a:srgbClr val="E9E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18688" y="4974336"/>
            <a:ext cx="546202" cy="292608"/>
          </a:xfrm>
          <a:prstGeom prst="roundRect">
            <a:avLst>
              <a:gd name="adj" fmla="val 25000"/>
            </a:avLst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01568" y="53400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75C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0.91328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6592" y="535838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36592" y="54041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하락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78992" y="5614416"/>
            <a:ext cx="5175504" cy="475488"/>
          </a:xfrm>
          <a:prstGeom prst="roundRect">
            <a:avLst>
              <a:gd name="adj" fmla="val 23077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78992" y="5742432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+0.00236 improvement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784848" y="1938528"/>
            <a:ext cx="4645152" cy="4517136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022592" y="21945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22592" y="2560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관찰 포인트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40880" y="2926080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178040" y="2871216"/>
            <a:ext cx="376732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하이퍼파라미터 튜닝과 FULL_DATA_MODE가 기준선 대비 실질적인 상승을 만들었다.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040880" y="340690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178040" y="3352038"/>
            <a:ext cx="376732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Model B를 따로 만든 것 자체는 나쁘지 않았지만, 앙상블이 항상 정답은 아니었다.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040880" y="3887724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178040" y="3832860"/>
            <a:ext cx="3767328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작은 score 차이에서도 운영 전략이 최종 제출물을 바꾸는 결정적 요소가 됐다.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022592" y="5285232"/>
            <a:ext cx="3931920" cy="768096"/>
          </a:xfrm>
          <a:prstGeom prst="roundRect">
            <a:avLst>
              <a:gd name="adj" fmla="val 14286"/>
            </a:avLst>
          </a:prstGeom>
          <a:solidFill>
            <a:srgbClr val="F9E8D2"/>
          </a:solidFill>
          <a:ln w="12700">
            <a:solidFill>
              <a:srgbClr val="F9E8D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260336" y="552297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대회형 문제에서는 '복잡한 방법'보다 '안정적으로 반복 가능한 방법'이 더 강했습니다.</a:t>
            </a:r>
            <a:endParaRPr lang="en-US" sz="108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3243"/>
          </a:solidFill>
          <a:ln w="12700">
            <a:solidFill>
              <a:srgbClr val="1632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앙상블이 실패했는가, 그리고 다음 액션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잘못된 자동선택은 validation 설계와 모델 다양성 부족이 겹쳤을 때 쉽게 발생합니다.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10835640" cy="0"/>
          </a:xfrm>
          <a:prstGeom prst="line">
            <a:avLst/>
          </a:prstGeom>
          <a:noFill/>
          <a:ln w="17780">
            <a:solidFill>
              <a:srgbClr val="D8D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1975104"/>
            <a:ext cx="6903720" cy="39136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앙상블 하락 원인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15568" y="2743200"/>
            <a:ext cx="1938528" cy="2706624"/>
          </a:xfrm>
          <a:prstGeom prst="roundRect">
            <a:avLst>
              <a:gd name="adj" fmla="val 5660"/>
            </a:avLst>
          </a:prstGeom>
          <a:solidFill>
            <a:srgbClr val="F6DDD7"/>
          </a:solidFill>
          <a:ln w="12700">
            <a:solidFill>
              <a:srgbClr val="F6DDD7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80160" y="29626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C75C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validation overfit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280160" y="3419856"/>
            <a:ext cx="16093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4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FULL_DATA_MODE에서 validation이 학습 데이터 일부 100샘플뿐이라, 앙상블 우위가 과적합된 숫자였음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346704" y="2743200"/>
            <a:ext cx="1938528" cy="2706624"/>
          </a:xfrm>
          <a:prstGeom prst="roundRect">
            <a:avLst>
              <a:gd name="adj" fmla="val 5660"/>
            </a:avLst>
          </a:prstGeom>
          <a:solidFill>
            <a:srgbClr val="F9E8D2"/>
          </a:solidFill>
          <a:ln w="12700">
            <a:solidFill>
              <a:srgbClr val="F9E8D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11296" y="29626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E79A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lack of diversity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3511296" y="3419856"/>
            <a:ext cx="16093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4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A/B 모두 같은 아키텍처와 거의 같은 데이터로 학습되어 에러 패턴이 충분히 달라지지 않았음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577840" y="2743200"/>
            <a:ext cx="1938528" cy="2706624"/>
          </a:xfrm>
          <a:prstGeom prst="roundRect">
            <a:avLst>
              <a:gd name="adj" fmla="val 5660"/>
            </a:avLst>
          </a:prstGeom>
          <a:solidFill>
            <a:srgbClr val="D9EEF2"/>
          </a:solidFill>
          <a:ln w="12700">
            <a:solidFill>
              <a:srgbClr val="D9EEF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42432" y="29626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selection rule mismatch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5742432" y="3419856"/>
            <a:ext cx="16093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4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 기준 자동선택 규칙은 있었지만, public leaderboard 일반화 성능까지는 보장하지 못했음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046720" y="1975104"/>
            <a:ext cx="338328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21040" y="22494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대회에서 남은 교훈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39328" y="2724912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76488" y="2651760"/>
            <a:ext cx="2578608" cy="3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앙상블은 다양성이 있을 때만 유효하다.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39328" y="3113430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76488" y="3040278"/>
            <a:ext cx="2578608" cy="3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full-data 학습에서는 validation 신뢰도 설계가 더 중요하다.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339328" y="3501949"/>
            <a:ext cx="73152" cy="73152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476488" y="3428797"/>
            <a:ext cx="2578608" cy="3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position bias 제거처럼 직접적인 추론 보정이 의외로 강하다.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046720" y="4590288"/>
            <a:ext cx="33832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21040" y="4828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다음에 해볼 것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39328" y="5248656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476488" y="5175504"/>
            <a:ext cx="2578608" cy="30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VLM과의 heterogeneous ensemble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339328" y="5625795"/>
            <a:ext cx="73152" cy="73152"/>
          </a:xfrm>
          <a:prstGeom prst="ellipse">
            <a:avLst/>
          </a:prstGeom>
          <a:solidFill>
            <a:srgbClr val="C75C3A"/>
          </a:solidFill>
          <a:ln w="12700">
            <a:solidFill>
              <a:srgbClr val="C75C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476488" y="5552643"/>
            <a:ext cx="2578608" cy="30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dirty="0">
                <a:solidFill>
                  <a:srgbClr val="1221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cross-validation + OCR / prompt ensemble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68680" y="5998464"/>
            <a:ext cx="6903720" cy="420624"/>
          </a:xfrm>
          <a:prstGeom prst="roundRect">
            <a:avLst>
              <a:gd name="adj" fmla="val 26087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51560" y="6117336"/>
            <a:ext cx="6537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Final takeaway: 최고점은 큰 모델 하나보다 학습량 확대와 추론 통제를 묶은 운영 전략에서 나왔습니다.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07C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Macintosh PowerPoint</Application>
  <PresentationFormat>와이드스크린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Apple SD Gothic Neo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SSAFY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SSAFY 15기 AI Challenge 전략</dc:title>
  <dc:subject>SSAFY 15기 AI Challenge 전략 발표</dc:subject>
  <dc:creator>OpenAI Codex</dc:creator>
  <cp:lastModifiedBy>ParkDongkyu</cp:lastModifiedBy>
  <cp:revision>1</cp:revision>
  <dcterms:created xsi:type="dcterms:W3CDTF">2026-04-05T11:59:40Z</dcterms:created>
  <dcterms:modified xsi:type="dcterms:W3CDTF">2026-04-05T12:03:39Z</dcterms:modified>
</cp:coreProperties>
</file>